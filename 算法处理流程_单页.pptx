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"/>
            <a:ext cx="121916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海南风光九条出力曲线流水线：76年NC → 九条8760小时出力标幺曲线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</a:rPr>
              <a:t>每框一个操作，框内标注处理后数据与维度；时间轴删闰年2月29日，每年8760小时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16" y="589788"/>
            <a:ext cx="1767795" cy="260603"/>
          </a:xfrm>
          <a:prstGeom prst="roundRect">
            <a:avLst/>
          </a:prstGeom>
          <a:solidFill>
            <a:srgbClr val="2E5E9E"/>
          </a:solidFill>
          <a:ln w="635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5463" y="589788"/>
            <a:ext cx="2133546" cy="260603"/>
          </a:xfrm>
          <a:prstGeom prst="roundRect">
            <a:avLst/>
          </a:prstGeom>
          <a:solidFill>
            <a:srgbClr val="1F7A5C"/>
          </a:solidFill>
          <a:ln w="6350">
            <a:solidFill>
              <a:srgbClr val="1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预处理与缓存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1" y="589788"/>
            <a:ext cx="3291757" cy="260603"/>
          </a:xfrm>
          <a:prstGeom prst="roundRect">
            <a:avLst/>
          </a:prstGeom>
          <a:solidFill>
            <a:srgbClr val="B07A1F"/>
          </a:solidFill>
          <a:ln w="6350">
            <a:solidFill>
              <a:srgbClr val="B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分类 · 代表年 · 插入（9库）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1311" y="589788"/>
            <a:ext cx="1767795" cy="260603"/>
          </a:xfrm>
          <a:prstGeom prst="roundRect">
            <a:avLst/>
          </a:prstGeom>
          <a:solidFill>
            <a:srgbClr val="6C48A8"/>
          </a:solidFill>
          <a:ln w="6350">
            <a:solidFill>
              <a:srgbClr val="6C4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出力换算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3899" y="589788"/>
            <a:ext cx="1645878" cy="260603"/>
          </a:xfrm>
          <a:prstGeom prst="roundRect">
            <a:avLst/>
          </a:prstGeom>
          <a:solidFill>
            <a:srgbClr val="A63A45"/>
          </a:solidFill>
          <a:ln w="6350">
            <a:solidFill>
              <a:srgbClr val="A6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" y="1097280"/>
            <a:ext cx="1767795" cy="960120"/>
          </a:xfrm>
          <a:prstGeom prst="roundRect">
            <a:avLst/>
          </a:prstGeom>
          <a:solidFill>
            <a:srgbClr val="D6E4F7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30" b="1">
                <a:solidFill>
                  <a:srgbClr val="2E5E9E"/>
                </a:solidFill>
                <a:latin typeface="Microsoft YaHei"/>
                <a:ea typeface="Microsoft YaHei"/>
              </a:rPr>
              <a:t>光NC 76个年文件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ssrd (8760,8,10) J/m²·h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（逐小时累计）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916" y="2331720"/>
            <a:ext cx="1767795" cy="960120"/>
          </a:xfrm>
          <a:prstGeom prst="roundRect">
            <a:avLst/>
          </a:prstGeom>
          <a:solidFill>
            <a:srgbClr val="D6E4F7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30" b="1">
                <a:solidFill>
                  <a:srgbClr val="2E5E9E"/>
                </a:solidFill>
                <a:latin typeface="Microsoft YaHei"/>
                <a:ea typeface="Microsoft YaHei"/>
              </a:rPr>
              <a:t>风NC 76个年文件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u100、v100 (8760,8,10)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916" y="3566160"/>
            <a:ext cx="176779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2E5E9E"/>
                </a:solidFill>
                <a:latin typeface="Microsoft YaHei"/>
                <a:ea typeface="Microsoft YaHei"/>
              </a:rPr>
              <a:t>固定输入（虚线=辅助）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80格海陆分类表（31海/49陆）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海南省边界 GeoJSON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00_check_grid_mask：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边界逐格核验 → 核对.json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5463" y="1097280"/>
            <a:ext cx="1767795" cy="1234440"/>
          </a:xfrm>
          <a:prstGeom prst="roundRect">
            <a:avLst/>
          </a:prstGeom>
          <a:solidFill>
            <a:srgbClr val="D9F0E9"/>
          </a:solidFill>
          <a:ln w="12700">
            <a:solidFill>
              <a:srgbClr val="1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1F7A5C"/>
                </a:solidFill>
                <a:latin typeface="Microsoft YaHei"/>
                <a:ea typeface="Microsoft YaHei"/>
              </a:rPr>
              <a:t>01.load_one_resource（光）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80格等权均值÷3600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→(8760,) W/m²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删2/29，验证每年8760h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255" y="2468880"/>
            <a:ext cx="1828754" cy="1234440"/>
          </a:xfrm>
          <a:prstGeom prst="roundRect">
            <a:avLst/>
          </a:prstGeom>
          <a:solidFill>
            <a:srgbClr val="D9F0E9"/>
          </a:solidFill>
          <a:ln w="12700">
            <a:solidFill>
              <a:srgbClr val="1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1F7A5C"/>
                </a:solidFill>
                <a:latin typeface="Microsoft YaHei"/>
                <a:ea typeface="Microsoft YaHei"/>
              </a:rPr>
              <a:t>01.load_one_resource（风）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hypot(u100,v100)→(8760,80)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海31格/陆49格等权均值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→(8760,2)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删2/29，验证每年8760h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5463" y="4114800"/>
            <a:ext cx="2133546" cy="1645920"/>
          </a:xfrm>
          <a:prstGeom prst="roundRect">
            <a:avLst/>
          </a:prstGeom>
          <a:solidFill>
            <a:srgbClr val="D9F0E9"/>
          </a:solidFill>
          <a:ln w="12700">
            <a:solidFill>
              <a:srgbClr val="1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1F7A5C"/>
                </a:solidFill>
                <a:latin typeface="Microsoft YaHei"/>
                <a:ea typeface="Microsoft YaHei"/>
              </a:rPr>
              <a:t>01.main 存NPZ ＋ 02.load_cache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风速152键 {年}_sea/{年}_land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光伏76键 {年}，各(8760,)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→ 海风/陆风/光各 (76,8760)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光负噪声≥−0.01截为0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89712" y="1577340"/>
            <a:ext cx="365751" cy="13716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89712" y="2811780"/>
            <a:ext cx="670543" cy="27432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38339" y="2331720"/>
            <a:ext cx="0" cy="17830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45176" y="370332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54761" y="1097280"/>
            <a:ext cx="3291757" cy="822960"/>
          </a:xfrm>
          <a:prstGeom prst="roundRect">
            <a:avLst/>
          </a:prstGeom>
          <a:solidFill>
            <a:srgbClr val="FCEFD3"/>
          </a:solidFill>
          <a:ln w="12700">
            <a:solidFill>
              <a:srgbClr val="B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B07A1F"/>
                </a:solidFill>
                <a:latin typeface="Microsoft YaHei"/>
                <a:ea typeface="Microsoft YaHei"/>
              </a:rPr>
              <a:t>02.classify_years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年指标：风 mean(v³)、光 ΣG/1000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76年升序分组：小19 / 平均38 / 大19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761" y="2331720"/>
            <a:ext cx="999719" cy="1920240"/>
          </a:xfrm>
          <a:prstGeom prst="roundRect">
            <a:avLst/>
          </a:prstGeom>
          <a:solidFill>
            <a:srgbClr val="FCEFD3"/>
          </a:solidFill>
          <a:ln w="12700">
            <a:solidFill>
              <a:srgbClr val="B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630" b="1">
                <a:solidFill>
                  <a:srgbClr val="B07A1F"/>
                </a:solidFill>
                <a:latin typeface="Microsoft YaHei"/>
                <a:ea typeface="Microsoft YaHei"/>
              </a:rPr>
              <a:t>海风库 ×3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X (N,8760)，N=19/38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medoid → 真实代表年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before (8760,)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insert_wind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q10/q90 → 候选池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逐月批次插入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after (8760,)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54620" y="192024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54620" y="425196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00780" y="2331720"/>
            <a:ext cx="999719" cy="1920240"/>
          </a:xfrm>
          <a:prstGeom prst="roundRect">
            <a:avLst/>
          </a:prstGeom>
          <a:solidFill>
            <a:srgbClr val="FCEFD3"/>
          </a:solidFill>
          <a:ln w="12700">
            <a:solidFill>
              <a:srgbClr val="B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630" b="1">
                <a:solidFill>
                  <a:srgbClr val="B07A1F"/>
                </a:solidFill>
                <a:latin typeface="Microsoft YaHei"/>
                <a:ea typeface="Microsoft YaHei"/>
              </a:rPr>
              <a:t>陆风库 ×3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X (N,8760)，N=19/38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medoid → 真实代表年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before (8760,)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insert_wind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q10/q90 → 候选池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逐月批次插入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after (8760,)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639" y="192024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00639" y="425196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46799" y="2331720"/>
            <a:ext cx="999719" cy="1920240"/>
          </a:xfrm>
          <a:prstGeom prst="roundRect">
            <a:avLst/>
          </a:prstGeom>
          <a:solidFill>
            <a:srgbClr val="FCEFD3"/>
          </a:solidFill>
          <a:ln w="12700">
            <a:solidFill>
              <a:srgbClr val="B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630" b="1">
                <a:solidFill>
                  <a:srgbClr val="B07A1F"/>
                </a:solidFill>
                <a:latin typeface="Microsoft YaHei"/>
                <a:ea typeface="Microsoft YaHei"/>
              </a:rPr>
              <a:t>光伏库 ×3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X (N,8760)，N=19/38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medoid → 真实代表年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before (8760,)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insert_solar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(N,365,24)→日均(N,365)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低光模板(24,)整日替换</a:t>
            </a:r>
          </a:p>
          <a:p>
            <a:pPr algn="ctr"/>
            <a:r>
              <a:rPr sz="520" b="0">
                <a:solidFill>
                  <a:srgbClr val="333333"/>
                </a:solidFill>
                <a:latin typeface="Microsoft YaHei"/>
                <a:ea typeface="Microsoft YaHei"/>
              </a:rPr>
              <a:t>after (8760,)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46659" y="192024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46659" y="4251960"/>
            <a:ext cx="0" cy="4114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54761" y="4663440"/>
            <a:ext cx="3291757" cy="822960"/>
          </a:xfrm>
          <a:prstGeom prst="roundRect">
            <a:avLst/>
          </a:prstGeom>
          <a:solidFill>
            <a:srgbClr val="FCEFD3"/>
          </a:solidFill>
          <a:ln w="12700">
            <a:solidFill>
              <a:srgbClr val="B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B07A1F"/>
                </a:solidFill>
                <a:latin typeface="Microsoft YaHei"/>
                <a:ea typeface="Microsoft YaHei"/>
              </a:rPr>
              <a:t>02.export_group 写库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9 × curve_8760.csv (8760,)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各配 summary / candidates / insertion_log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51311" y="2057400"/>
            <a:ext cx="1767795" cy="1920240"/>
          </a:xfrm>
          <a:prstGeom prst="roundRect">
            <a:avLst/>
          </a:prstGeom>
          <a:solidFill>
            <a:srgbClr val="EBE2F6"/>
          </a:solidFill>
          <a:ln w="12700">
            <a:solidFill>
              <a:srgbClr val="6C4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6C48A8"/>
                </a:solidFill>
                <a:latin typeface="Microsoft YaHei"/>
                <a:ea typeface="Microsoft YaHei"/>
              </a:rPr>
              <a:t>03_power_curves.main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（9支路合并）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wind_power：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海风 4/11/25 α=0.70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陆风 2.5/9/18 α=0.95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光伏 p=0.6·G/1000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资源(8760,)→pu(8760,)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插前/插后 ×9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3899" y="1234440"/>
            <a:ext cx="1645878" cy="960120"/>
          </a:xfrm>
          <a:prstGeom prst="roundRect">
            <a:avLst/>
          </a:prstGeom>
          <a:solidFill>
            <a:srgbClr val="FAE3E5"/>
          </a:solidFill>
          <a:ln w="12700">
            <a:solidFill>
              <a:srgbClr val="A6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A63A45"/>
                </a:solidFill>
                <a:latin typeface="Microsoft YaHei"/>
                <a:ea typeface="Microsoft YaHei"/>
              </a:rPr>
              <a:t>九条出力总表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(8760, 2+9×4)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3899" y="2468880"/>
            <a:ext cx="1645878" cy="822960"/>
          </a:xfrm>
          <a:prstGeom prst="roundRect">
            <a:avLst/>
          </a:prstGeom>
          <a:solidFill>
            <a:srgbClr val="FAE3E5"/>
          </a:solidFill>
          <a:ln w="12700">
            <a:solidFill>
              <a:srgbClr val="A6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A63A45"/>
                </a:solidFill>
                <a:latin typeface="Microsoft YaHei"/>
                <a:ea typeface="Microsoft YaHei"/>
              </a:rPr>
              <a:t>最大利用小时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H=Σp (9,)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3899" y="3566160"/>
            <a:ext cx="1645878" cy="891540"/>
          </a:xfrm>
          <a:prstGeom prst="roundRect">
            <a:avLst/>
          </a:prstGeom>
          <a:solidFill>
            <a:srgbClr val="FAE3E5"/>
          </a:solidFill>
          <a:ln w="12700">
            <a:solidFill>
              <a:srgbClr val="A6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A63A45"/>
                </a:solidFill>
                <a:latin typeface="Microsoft YaHei"/>
                <a:ea typeface="Microsoft YaHei"/>
              </a:rPr>
              <a:t>04_verify_outputs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复核结果.json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（原极端保护等）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3899" y="4732020"/>
            <a:ext cx="1645878" cy="891540"/>
          </a:xfrm>
          <a:prstGeom prst="roundRect">
            <a:avLst/>
          </a:prstGeom>
          <a:solidFill>
            <a:srgbClr val="FAE3E5"/>
          </a:solidFill>
          <a:ln w="12700">
            <a:solidFill>
              <a:srgbClr val="A6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A63A45"/>
                </a:solidFill>
                <a:latin typeface="Microsoft YaHei"/>
                <a:ea typeface="Microsoft YaHei"/>
              </a:rPr>
              <a:t>05_plot_results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九条曲线 PNG</a:t>
            </a:r>
          </a:p>
          <a:p>
            <a:pPr algn="ctr"/>
            <a:r>
              <a:rPr sz="570" b="0">
                <a:solidFill>
                  <a:srgbClr val="333333"/>
                </a:solidFill>
                <a:latin typeface="Microsoft YaHei"/>
                <a:ea typeface="Microsoft YaHei"/>
              </a:rPr>
              <a:t>（3×3子图）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246838" y="2194560"/>
            <a:ext cx="0" cy="27432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246838" y="3291840"/>
            <a:ext cx="0" cy="27432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246838" y="4457700"/>
            <a:ext cx="0" cy="27432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389010" y="4937760"/>
            <a:ext cx="195067" cy="0"/>
          </a:xfrm>
          <a:prstGeom prst="line">
            <a:avLst/>
          </a:prstGeom>
          <a:ln w="1524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584077" y="1508760"/>
            <a:ext cx="0" cy="3429000"/>
          </a:xfrm>
          <a:prstGeom prst="line">
            <a:avLst/>
          </a:prstGeom>
          <a:ln w="1524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84077" y="1508760"/>
            <a:ext cx="170684" cy="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46518" y="5074920"/>
            <a:ext cx="158492" cy="0"/>
          </a:xfrm>
          <a:prstGeom prst="line">
            <a:avLst/>
          </a:prstGeom>
          <a:ln w="1524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205010" y="3017520"/>
            <a:ext cx="0" cy="2057400"/>
          </a:xfrm>
          <a:prstGeom prst="line">
            <a:avLst/>
          </a:prstGeom>
          <a:ln w="1524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05010" y="3017520"/>
            <a:ext cx="146301" cy="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19107" y="1714500"/>
            <a:ext cx="304792" cy="75438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119107" y="2880360"/>
            <a:ext cx="304792" cy="137160"/>
          </a:xfrm>
          <a:prstGeom prst="line">
            <a:avLst/>
          </a:prstGeom>
          <a:ln w="1524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6446520"/>
            <a:ext cx="121916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888888"/>
                </a:solidFill>
                <a:latin typeface="Microsoft YaHei"/>
                <a:ea typeface="Microsoft YaHei"/>
              </a:rPr>
              <a:t>风插入：先P10后P90逐月批次，完整片段优先、两侧隔3h、同日至多1条；光插入：月缺口最大优先，低光日整日24h替换 —— 循环细节见 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