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92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91" y="52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71C58A-300A-42BE-BD24-5B8EC42DA17E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960CF8-0524-4876-95D5-BA46E3A2E2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51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srvmshr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7" name="Google Shape;5187;g78327f1586_2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8" name="Google Shape;5188;g78327f1586_21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</a:t>
            </a:r>
            <a:r>
              <a:rPr lang="en" u="sng">
                <a:solidFill>
                  <a:schemeClr val="hlink"/>
                </a:solidFill>
                <a:hlinkClick r:id="rId3"/>
              </a:rPr>
              <a:t>@srvmshr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sourav@yahoo.com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54864"/>
            <a:ext cx="12191695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Microsoft YaHei"/>
                <a:ea typeface="Microsoft YaHei"/>
              </a:rPr>
              <a:t>海南风光九条出力曲线流水线：76年NC → 九条8760小时出力标幺曲线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8036"/>
            <a:ext cx="1219169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66666"/>
                </a:solidFill>
                <a:latin typeface="Microsoft YaHei"/>
                <a:ea typeface="Microsoft YaHei"/>
              </a:rPr>
              <a:t>每框一个操作，框内标注处理后数据与维度；时间轴删闰年2月29日，每年8760小时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1916" y="589788"/>
            <a:ext cx="1767795" cy="260603"/>
          </a:xfrm>
          <a:prstGeom prst="roundRect">
            <a:avLst/>
          </a:prstGeom>
          <a:solidFill>
            <a:srgbClr val="2E5E9E"/>
          </a:solidFill>
          <a:ln w="6350">
            <a:solidFill>
              <a:srgbClr val="2E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</a:rPr>
              <a:t>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5463" y="589788"/>
            <a:ext cx="2133546" cy="260603"/>
          </a:xfrm>
          <a:prstGeom prst="roundRect">
            <a:avLst/>
          </a:prstGeom>
          <a:solidFill>
            <a:srgbClr val="1F7A5C"/>
          </a:solidFill>
          <a:ln w="6350">
            <a:solidFill>
              <a:srgbClr val="1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</a:rPr>
              <a:t>预处理与缓存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761" y="589788"/>
            <a:ext cx="3291757" cy="260603"/>
          </a:xfrm>
          <a:prstGeom prst="roundRect">
            <a:avLst/>
          </a:prstGeom>
          <a:solidFill>
            <a:srgbClr val="B07A1F"/>
          </a:solidFill>
          <a:ln w="635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</a:rPr>
              <a:t>分类 · 代表年 · 插入（9库）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1311" y="589788"/>
            <a:ext cx="1767795" cy="260603"/>
          </a:xfrm>
          <a:prstGeom prst="roundRect">
            <a:avLst/>
          </a:prstGeom>
          <a:solidFill>
            <a:srgbClr val="6C48A8"/>
          </a:solidFill>
          <a:ln w="6350">
            <a:solidFill>
              <a:srgbClr val="6C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出力换算</a:t>
            </a:r>
            <a:endParaRPr sz="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0423899" y="589788"/>
            <a:ext cx="1645878" cy="260603"/>
          </a:xfrm>
          <a:prstGeom prst="roundRect">
            <a:avLst/>
          </a:prstGeom>
          <a:solidFill>
            <a:srgbClr val="A63A45"/>
          </a:solidFill>
          <a:ln w="6350">
            <a:solidFill>
              <a:srgbClr val="A63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</a:rPr>
              <a:t>输出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1916" y="1097280"/>
            <a:ext cx="1767795" cy="960120"/>
          </a:xfrm>
          <a:prstGeom prst="roundRect">
            <a:avLst/>
          </a:prstGeom>
          <a:solidFill>
            <a:srgbClr val="D6E4F7"/>
          </a:solidFill>
          <a:ln w="12700">
            <a:solidFill>
              <a:srgbClr val="2E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30" b="1">
                <a:solidFill>
                  <a:srgbClr val="2E5E9E"/>
                </a:solidFill>
                <a:latin typeface="Microsoft YaHei"/>
                <a:ea typeface="Microsoft YaHei"/>
              </a:rPr>
              <a:t>光NC 76个年文件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ssrd (8760,8,10) J/m²·h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（逐小时累计）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916" y="2331720"/>
            <a:ext cx="1767795" cy="960120"/>
          </a:xfrm>
          <a:prstGeom prst="roundRect">
            <a:avLst/>
          </a:prstGeom>
          <a:solidFill>
            <a:srgbClr val="D6E4F7"/>
          </a:solidFill>
          <a:ln w="12700">
            <a:solidFill>
              <a:srgbClr val="2E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30" b="1" dirty="0" err="1">
                <a:solidFill>
                  <a:srgbClr val="2E5E9E"/>
                </a:solidFill>
                <a:latin typeface="Microsoft YaHei"/>
                <a:ea typeface="Microsoft YaHei"/>
              </a:rPr>
              <a:t>风NC</a:t>
            </a:r>
            <a:r>
              <a:rPr sz="730" b="1" dirty="0">
                <a:solidFill>
                  <a:srgbClr val="2E5E9E"/>
                </a:solidFill>
                <a:latin typeface="Microsoft YaHei"/>
                <a:ea typeface="Microsoft YaHei"/>
              </a:rPr>
              <a:t> 76个年文件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u100、v100 (8760,8,10)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916" y="3566160"/>
            <a:ext cx="1767795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2E5E9E"/>
                </a:solidFill>
                <a:latin typeface="Microsoft YaHei"/>
                <a:ea typeface="Microsoft YaHei"/>
              </a:rPr>
              <a:t>固定输入（虚线=辅助）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80格海陆分类表（31海/49陆）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海南省边界 GeoJSON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00_check_grid_mask：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边界逐格核验 → 核对.json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55463" y="1097280"/>
            <a:ext cx="1767795" cy="1234440"/>
          </a:xfrm>
          <a:prstGeom prst="roundRect">
            <a:avLst/>
          </a:prstGeom>
          <a:solidFill>
            <a:srgbClr val="D9F0E9"/>
          </a:solidFill>
          <a:ln w="12700">
            <a:solidFill>
              <a:srgbClr val="1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1F7A5C"/>
                </a:solidFill>
                <a:latin typeface="Microsoft YaHei"/>
                <a:ea typeface="Microsoft YaHei"/>
              </a:rPr>
              <a:t>01.load_one_resource（光）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80格等权均值÷3600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→(8760,) W/m²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删2/29，验证每年8760h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255" y="2468880"/>
            <a:ext cx="1828754" cy="1234440"/>
          </a:xfrm>
          <a:prstGeom prst="roundRect">
            <a:avLst/>
          </a:prstGeom>
          <a:solidFill>
            <a:srgbClr val="D9F0E9"/>
          </a:solidFill>
          <a:ln w="12700">
            <a:solidFill>
              <a:srgbClr val="1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 dirty="0">
                <a:solidFill>
                  <a:srgbClr val="1F7A5C"/>
                </a:solidFill>
                <a:latin typeface="Microsoft YaHei"/>
                <a:ea typeface="Microsoft YaHei"/>
              </a:rPr>
              <a:t>01.load_one_resource（风）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hypot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(u100,v100)→(8760,80)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海31格/陆49格等权均值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→(8760,2)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删2/29，验证每年8760h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5463" y="4114800"/>
            <a:ext cx="2133546" cy="1645920"/>
          </a:xfrm>
          <a:prstGeom prst="roundRect">
            <a:avLst/>
          </a:prstGeom>
          <a:solidFill>
            <a:srgbClr val="D9F0E9"/>
          </a:solidFill>
          <a:ln w="12700">
            <a:solidFill>
              <a:srgbClr val="1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 dirty="0">
                <a:solidFill>
                  <a:srgbClr val="1F7A5C"/>
                </a:solidFill>
                <a:latin typeface="Microsoft YaHei"/>
                <a:ea typeface="Microsoft YaHei"/>
              </a:rPr>
              <a:t>01.main </a:t>
            </a:r>
            <a:r>
              <a:rPr sz="700" b="1" dirty="0" err="1">
                <a:solidFill>
                  <a:srgbClr val="1F7A5C"/>
                </a:solidFill>
                <a:latin typeface="Microsoft YaHei"/>
                <a:ea typeface="Microsoft YaHei"/>
              </a:rPr>
              <a:t>存NPZ</a:t>
            </a:r>
            <a:r>
              <a:rPr sz="700" b="1" dirty="0">
                <a:solidFill>
                  <a:srgbClr val="1F7A5C"/>
                </a:solidFill>
                <a:latin typeface="Microsoft YaHei"/>
                <a:ea typeface="Microsoft YaHei"/>
              </a:rPr>
              <a:t> ＋ 02.load_cache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风速152键 {年}_sea/{年}_land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光伏76键 {年}，各(8760,)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海风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陆风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光各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(76,8760)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光负噪声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≥−0.01截为0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89712" y="1577340"/>
            <a:ext cx="365751" cy="13716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89712" y="2811780"/>
            <a:ext cx="670543" cy="27432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38339" y="2331720"/>
            <a:ext cx="0" cy="17830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45176" y="370332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754761" y="1097280"/>
            <a:ext cx="3291757" cy="822960"/>
          </a:xfrm>
          <a:prstGeom prst="roundRect">
            <a:avLst/>
          </a:prstGeom>
          <a:solidFill>
            <a:srgbClr val="FCEFD3"/>
          </a:solidFill>
          <a:ln w="1270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B07A1F"/>
                </a:solidFill>
                <a:latin typeface="Microsoft YaHei"/>
                <a:ea typeface="Microsoft YaHei"/>
              </a:rPr>
              <a:t>02.classify_years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年指标：风 mean(v³)、光 ΣG/1000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76年升序分组：小19 / 平均38 / 大19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761" y="2331720"/>
            <a:ext cx="999719" cy="1920240"/>
          </a:xfrm>
          <a:prstGeom prst="roundRect">
            <a:avLst/>
          </a:prstGeom>
          <a:solidFill>
            <a:srgbClr val="FCEFD3"/>
          </a:solidFill>
          <a:ln w="1270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1" dirty="0" err="1">
                <a:solidFill>
                  <a:srgbClr val="B07A1F"/>
                </a:solidFill>
                <a:latin typeface="Microsoft YaHei"/>
                <a:ea typeface="Microsoft YaHei"/>
              </a:rPr>
              <a:t>海风库</a:t>
            </a:r>
            <a:r>
              <a:rPr sz="630" b="1" dirty="0">
                <a:solidFill>
                  <a:srgbClr val="B07A1F"/>
                </a:solidFill>
                <a:latin typeface="Microsoft YaHei"/>
                <a:ea typeface="Microsoft YaHei"/>
              </a:rPr>
              <a:t> ×3</a:t>
            </a: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X (N,8760)，N=19/38</a:t>
            </a: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medoid → </a:t>
            </a:r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真实代表年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before (8760,)</a:t>
            </a:r>
          </a:p>
          <a:p>
            <a:pPr algn="ctr"/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insert_wind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q10/q90 → </a:t>
            </a:r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候选池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逐月批次插入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after (8760,)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54620" y="192024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254620" y="425196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00780" y="2331720"/>
            <a:ext cx="999719" cy="1920240"/>
          </a:xfrm>
          <a:prstGeom prst="roundRect">
            <a:avLst/>
          </a:prstGeom>
          <a:solidFill>
            <a:srgbClr val="FCEFD3"/>
          </a:solidFill>
          <a:ln w="1270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1" dirty="0" err="1">
                <a:solidFill>
                  <a:srgbClr val="B07A1F"/>
                </a:solidFill>
                <a:latin typeface="Microsoft YaHei"/>
                <a:ea typeface="Microsoft YaHei"/>
              </a:rPr>
              <a:t>陆风库</a:t>
            </a:r>
            <a:r>
              <a:rPr sz="630" b="1" dirty="0">
                <a:solidFill>
                  <a:srgbClr val="B07A1F"/>
                </a:solidFill>
                <a:latin typeface="Microsoft YaHei"/>
                <a:ea typeface="Microsoft YaHei"/>
              </a:rPr>
              <a:t> ×3</a:t>
            </a: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X (N,8760)，N=19/38</a:t>
            </a: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medoid → </a:t>
            </a:r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真实代表年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before (8760,)</a:t>
            </a:r>
          </a:p>
          <a:p>
            <a:pPr algn="ctr"/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insert_wind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q10/q90 → </a:t>
            </a:r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候选池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逐月批次插入</a:t>
            </a:r>
            <a:endParaRPr sz="52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ctr"/>
            <a:r>
              <a:rPr sz="520" b="0" dirty="0">
                <a:solidFill>
                  <a:srgbClr val="333333"/>
                </a:solidFill>
                <a:latin typeface="Microsoft YaHei"/>
                <a:ea typeface="Microsoft YaHei"/>
              </a:rPr>
              <a:t>after (8760,)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639" y="192024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400639" y="425196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46799" y="2331720"/>
            <a:ext cx="999719" cy="1920240"/>
          </a:xfrm>
          <a:prstGeom prst="roundRect">
            <a:avLst/>
          </a:prstGeom>
          <a:solidFill>
            <a:srgbClr val="FCEFD3"/>
          </a:solidFill>
          <a:ln w="1270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1">
                <a:solidFill>
                  <a:srgbClr val="B07A1F"/>
                </a:solidFill>
                <a:latin typeface="Microsoft YaHei"/>
                <a:ea typeface="Microsoft YaHei"/>
              </a:rPr>
              <a:t>光伏库 ×3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X (N,8760)，N=19/38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medoid → 真实代表年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before (8760,)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insert_solar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(N,365,24)→日均(N,365)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低光模板(24,)整日替换</a:t>
            </a:r>
          </a:p>
          <a:p>
            <a:pPr algn="ctr"/>
            <a:r>
              <a:rPr sz="520" b="0">
                <a:solidFill>
                  <a:srgbClr val="333333"/>
                </a:solidFill>
                <a:latin typeface="Microsoft YaHei"/>
                <a:ea typeface="Microsoft YaHei"/>
              </a:rPr>
              <a:t>after (8760,)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46659" y="192024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546659" y="4251960"/>
            <a:ext cx="0" cy="4114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754761" y="4663440"/>
            <a:ext cx="3291757" cy="822960"/>
          </a:xfrm>
          <a:prstGeom prst="roundRect">
            <a:avLst/>
          </a:prstGeom>
          <a:solidFill>
            <a:srgbClr val="FCEFD3"/>
          </a:solidFill>
          <a:ln w="12700">
            <a:solidFill>
              <a:srgbClr val="B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B07A1F"/>
                </a:solidFill>
                <a:latin typeface="Microsoft YaHei"/>
                <a:ea typeface="Microsoft YaHei"/>
              </a:rPr>
              <a:t>02.export_group 写库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9 × curve_8760.csv (8760,)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各配 summary / candidates / insertion_log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1311" y="2057400"/>
            <a:ext cx="1767795" cy="1920240"/>
          </a:xfrm>
          <a:prstGeom prst="roundRect">
            <a:avLst/>
          </a:prstGeom>
          <a:solidFill>
            <a:srgbClr val="EBE2F6"/>
          </a:solidFill>
          <a:ln w="12700">
            <a:solidFill>
              <a:srgbClr val="6C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 dirty="0">
                <a:solidFill>
                  <a:srgbClr val="6C48A8"/>
                </a:solidFill>
                <a:latin typeface="Microsoft YaHei"/>
                <a:ea typeface="Microsoft YaHei"/>
              </a:rPr>
              <a:t>03_power_curves.main</a:t>
            </a: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（9支路合并）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wind_power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海风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4/11/25 α=0.70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陆风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2.5/9/18 α=0.95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光伏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p=0.6·G/1000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资源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(8760,)→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pu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(8760,)</a:t>
            </a:r>
          </a:p>
          <a:p>
            <a:pPr algn="ctr"/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插前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插后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×9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3899" y="1234440"/>
            <a:ext cx="1645878" cy="960120"/>
          </a:xfrm>
          <a:prstGeom prst="roundRect">
            <a:avLst/>
          </a:prstGeom>
          <a:solidFill>
            <a:srgbClr val="FAE3E5"/>
          </a:solidFill>
          <a:ln w="12700">
            <a:solidFill>
              <a:srgbClr val="A63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A63A45"/>
                </a:solidFill>
                <a:latin typeface="Microsoft YaHei"/>
                <a:ea typeface="Microsoft YaHei"/>
              </a:rPr>
              <a:t>九条出力总表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(8760, 2+9×4)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23899" y="2468880"/>
            <a:ext cx="1645878" cy="822960"/>
          </a:xfrm>
          <a:prstGeom prst="roundRect">
            <a:avLst/>
          </a:prstGeom>
          <a:solidFill>
            <a:srgbClr val="FAE3E5"/>
          </a:solidFill>
          <a:ln w="12700">
            <a:solidFill>
              <a:srgbClr val="A63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 dirty="0" err="1">
                <a:solidFill>
                  <a:srgbClr val="A63A45"/>
                </a:solidFill>
                <a:latin typeface="Microsoft YaHei"/>
                <a:ea typeface="Microsoft YaHei"/>
              </a:rPr>
              <a:t>最大利用小时</a:t>
            </a:r>
            <a:endParaRPr sz="700" b="1" dirty="0">
              <a:solidFill>
                <a:srgbClr val="A63A45"/>
              </a:solidFill>
              <a:latin typeface="Microsoft YaHei"/>
              <a:ea typeface="Microsoft YaHei"/>
            </a:endParaRPr>
          </a:p>
          <a:p>
            <a:pPr algn="ctr"/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H=</a:t>
            </a:r>
            <a:r>
              <a:rPr sz="57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Σp</a:t>
            </a:r>
            <a:r>
              <a:rPr sz="570" b="0" dirty="0">
                <a:solidFill>
                  <a:srgbClr val="333333"/>
                </a:solidFill>
                <a:latin typeface="Microsoft YaHei"/>
                <a:ea typeface="Microsoft YaHei"/>
              </a:rPr>
              <a:t> (9,)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23899" y="3566160"/>
            <a:ext cx="1645878" cy="891540"/>
          </a:xfrm>
          <a:prstGeom prst="roundRect">
            <a:avLst/>
          </a:prstGeom>
          <a:solidFill>
            <a:srgbClr val="FAE3E5"/>
          </a:solidFill>
          <a:ln w="12700">
            <a:solidFill>
              <a:srgbClr val="A63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A63A45"/>
                </a:solidFill>
                <a:latin typeface="Microsoft YaHei"/>
                <a:ea typeface="Microsoft YaHei"/>
              </a:rPr>
              <a:t>04_verify_outputs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复核结果.json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（原极端保护等）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3899" y="4732020"/>
            <a:ext cx="1645878" cy="891540"/>
          </a:xfrm>
          <a:prstGeom prst="roundRect">
            <a:avLst/>
          </a:prstGeom>
          <a:solidFill>
            <a:srgbClr val="FAE3E5"/>
          </a:solidFill>
          <a:ln w="12700">
            <a:solidFill>
              <a:srgbClr val="A63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00" b="1">
                <a:solidFill>
                  <a:srgbClr val="A63A45"/>
                </a:solidFill>
                <a:latin typeface="Microsoft YaHei"/>
                <a:ea typeface="Microsoft YaHei"/>
              </a:rPr>
              <a:t>05_plot_results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九条曲线 PNG</a:t>
            </a:r>
          </a:p>
          <a:p>
            <a:pPr algn="ctr"/>
            <a:r>
              <a:rPr sz="570" b="0">
                <a:solidFill>
                  <a:srgbClr val="333333"/>
                </a:solidFill>
                <a:latin typeface="Microsoft YaHei"/>
                <a:ea typeface="Microsoft YaHei"/>
              </a:rPr>
              <a:t>（3×3子图）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6838" y="2194560"/>
            <a:ext cx="0" cy="27432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246838" y="3291840"/>
            <a:ext cx="0" cy="27432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246838" y="4457700"/>
            <a:ext cx="0" cy="27432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89010" y="4937760"/>
            <a:ext cx="195067" cy="0"/>
          </a:xfrm>
          <a:prstGeom prst="line">
            <a:avLst/>
          </a:prstGeom>
          <a:ln w="15240">
            <a:solidFill>
              <a:srgbClr val="6A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584077" y="1508760"/>
            <a:ext cx="0" cy="3429000"/>
          </a:xfrm>
          <a:prstGeom prst="line">
            <a:avLst/>
          </a:prstGeom>
          <a:ln w="15240">
            <a:solidFill>
              <a:srgbClr val="6A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84077" y="1508760"/>
            <a:ext cx="170684" cy="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046518" y="5074920"/>
            <a:ext cx="158492" cy="0"/>
          </a:xfrm>
          <a:prstGeom prst="line">
            <a:avLst/>
          </a:prstGeom>
          <a:ln w="15240">
            <a:solidFill>
              <a:srgbClr val="6A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205010" y="3017520"/>
            <a:ext cx="0" cy="2057400"/>
          </a:xfrm>
          <a:prstGeom prst="line">
            <a:avLst/>
          </a:prstGeom>
          <a:ln w="15240">
            <a:solidFill>
              <a:srgbClr val="6A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205010" y="3017520"/>
            <a:ext cx="146301" cy="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19107" y="1714500"/>
            <a:ext cx="304792" cy="75438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119107" y="2880360"/>
            <a:ext cx="304792" cy="137160"/>
          </a:xfrm>
          <a:prstGeom prst="line">
            <a:avLst/>
          </a:prstGeom>
          <a:ln w="15240">
            <a:solidFill>
              <a:srgbClr val="6A6A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0" y="6446520"/>
            <a:ext cx="12191695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0">
                <a:solidFill>
                  <a:srgbClr val="888888"/>
                </a:solidFill>
                <a:latin typeface="Microsoft YaHei"/>
                <a:ea typeface="Microsoft YaHei"/>
              </a:rPr>
              <a:t>风插入：先P10后P90逐月批次，完整片段优先、两侧隔3h、同日至多1条；光插入：月缺口最大优先，低光日整日24h替换 —— 循环细节见 DESIGN.md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0" name="Google Shape;5190;p49"/>
          <p:cNvSpPr/>
          <p:nvPr/>
        </p:nvSpPr>
        <p:spPr>
          <a:xfrm>
            <a:off x="2714633" y="4322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5191" name="Google Shape;5191;p49"/>
          <p:cNvSpPr/>
          <p:nvPr/>
        </p:nvSpPr>
        <p:spPr>
          <a:xfrm>
            <a:off x="2714633" y="19463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5192" name="Google Shape;5192;p49"/>
          <p:cNvSpPr/>
          <p:nvPr/>
        </p:nvSpPr>
        <p:spPr>
          <a:xfrm>
            <a:off x="2714633" y="3131600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5193" name="Google Shape;5193;p49"/>
          <p:cNvSpPr/>
          <p:nvPr/>
        </p:nvSpPr>
        <p:spPr>
          <a:xfrm>
            <a:off x="4866867" y="1576933"/>
            <a:ext cx="673600" cy="698000"/>
          </a:xfrm>
          <a:prstGeom prst="ellipse">
            <a:avLst/>
          </a:prstGeom>
          <a:solidFill>
            <a:srgbClr val="76A5A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cxnSp>
        <p:nvCxnSpPr>
          <p:cNvPr id="5194" name="Google Shape;5194;p49"/>
          <p:cNvCxnSpPr>
            <a:stCxn id="5190" idx="6"/>
            <a:endCxn id="5193" idx="2"/>
          </p:cNvCxnSpPr>
          <p:nvPr/>
        </p:nvCxnSpPr>
        <p:spPr>
          <a:xfrm>
            <a:off x="3388233" y="781267"/>
            <a:ext cx="1478800" cy="114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5" name="Google Shape;5195;p49"/>
          <p:cNvCxnSpPr>
            <a:stCxn id="5191" idx="6"/>
            <a:endCxn id="5193" idx="2"/>
          </p:cNvCxnSpPr>
          <p:nvPr/>
        </p:nvCxnSpPr>
        <p:spPr>
          <a:xfrm rot="10800000" flipH="1">
            <a:off x="3388233" y="1925767"/>
            <a:ext cx="1478800" cy="36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6" name="Google Shape;5196;p49"/>
          <p:cNvCxnSpPr>
            <a:stCxn id="5192" idx="6"/>
            <a:endCxn id="5193" idx="2"/>
          </p:cNvCxnSpPr>
          <p:nvPr/>
        </p:nvCxnSpPr>
        <p:spPr>
          <a:xfrm rot="10800000" flipH="1">
            <a:off x="3388233" y="1925800"/>
            <a:ext cx="1478800" cy="155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97" name="Google Shape;5197;p49"/>
          <p:cNvSpPr txBox="1"/>
          <p:nvPr/>
        </p:nvSpPr>
        <p:spPr>
          <a:xfrm>
            <a:off x="557300" y="444267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Size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8" name="Google Shape;5198;p49"/>
          <p:cNvSpPr txBox="1"/>
          <p:nvPr/>
        </p:nvSpPr>
        <p:spPr>
          <a:xfrm>
            <a:off x="557300" y="1150667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#bed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9" name="Google Shape;5199;p49"/>
          <p:cNvSpPr txBox="1"/>
          <p:nvPr/>
        </p:nvSpPr>
        <p:spPr>
          <a:xfrm>
            <a:off x="557300" y="2197933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ZIP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0" name="Google Shape;5200;p49"/>
          <p:cNvSpPr txBox="1"/>
          <p:nvPr/>
        </p:nvSpPr>
        <p:spPr>
          <a:xfrm>
            <a:off x="557300" y="3245200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Wealth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01" name="Google Shape;5201;p49"/>
          <p:cNvCxnSpPr>
            <a:stCxn id="5197" idx="3"/>
            <a:endCxn id="5190" idx="2"/>
          </p:cNvCxnSpPr>
          <p:nvPr/>
        </p:nvCxnSpPr>
        <p:spPr>
          <a:xfrm>
            <a:off x="1580100" y="679667"/>
            <a:ext cx="1134400" cy="10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2" name="Google Shape;5202;p49"/>
          <p:cNvCxnSpPr>
            <a:stCxn id="5198" idx="3"/>
            <a:endCxn id="5190" idx="2"/>
          </p:cNvCxnSpPr>
          <p:nvPr/>
        </p:nvCxnSpPr>
        <p:spPr>
          <a:xfrm rot="10800000" flipH="1">
            <a:off x="1580100" y="781267"/>
            <a:ext cx="1134400" cy="6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3" name="Google Shape;5203;p49"/>
          <p:cNvCxnSpPr>
            <a:stCxn id="5199" idx="3"/>
            <a:endCxn id="5191" idx="2"/>
          </p:cNvCxnSpPr>
          <p:nvPr/>
        </p:nvCxnSpPr>
        <p:spPr>
          <a:xfrm rot="10800000" flipH="1">
            <a:off x="1580100" y="2295333"/>
            <a:ext cx="1134400" cy="13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4" name="Google Shape;5204;p49"/>
          <p:cNvCxnSpPr>
            <a:stCxn id="5200" idx="3"/>
            <a:endCxn id="5192" idx="2"/>
          </p:cNvCxnSpPr>
          <p:nvPr/>
        </p:nvCxnSpPr>
        <p:spPr>
          <a:xfrm>
            <a:off x="1580100" y="3480600"/>
            <a:ext cx="11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5" name="Google Shape;5205;p49"/>
          <p:cNvCxnSpPr>
            <a:stCxn id="5199" idx="3"/>
            <a:endCxn id="5192" idx="2"/>
          </p:cNvCxnSpPr>
          <p:nvPr/>
        </p:nvCxnSpPr>
        <p:spPr>
          <a:xfrm>
            <a:off x="1580100" y="2433333"/>
            <a:ext cx="1134400" cy="104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06" name="Google Shape;5206;p49"/>
          <p:cNvSpPr txBox="1"/>
          <p:nvPr/>
        </p:nvSpPr>
        <p:spPr>
          <a:xfrm>
            <a:off x="4002033" y="740567"/>
            <a:ext cx="10228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1467" i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Family?</a:t>
            </a:r>
            <a:endParaRPr sz="1467" i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7" name="Google Shape;5207;p49"/>
          <p:cNvSpPr txBox="1"/>
          <p:nvPr/>
        </p:nvSpPr>
        <p:spPr>
          <a:xfrm>
            <a:off x="3504800" y="1678533"/>
            <a:ext cx="7624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1467" i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Walk?</a:t>
            </a:r>
            <a:endParaRPr sz="1467" i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8" name="Google Shape;5208;p49"/>
          <p:cNvSpPr txBox="1"/>
          <p:nvPr/>
        </p:nvSpPr>
        <p:spPr>
          <a:xfrm>
            <a:off x="3813200" y="2904267"/>
            <a:ext cx="9080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1467" i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School</a:t>
            </a:r>
            <a:endParaRPr sz="1467" i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09" name="Google Shape;5209;p49"/>
          <p:cNvCxnSpPr/>
          <p:nvPr/>
        </p:nvCxnSpPr>
        <p:spPr>
          <a:xfrm>
            <a:off x="5540467" y="1908133"/>
            <a:ext cx="535600" cy="1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0" name="Google Shape;5210;p49"/>
          <p:cNvSpPr txBox="1"/>
          <p:nvPr/>
        </p:nvSpPr>
        <p:spPr>
          <a:xfrm>
            <a:off x="6075533" y="1690533"/>
            <a:ext cx="10228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1467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PRICE ŷ</a:t>
            </a:r>
            <a:endParaRPr sz="1467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1" name="Google Shape;5211;p49"/>
          <p:cNvSpPr/>
          <p:nvPr/>
        </p:nvSpPr>
        <p:spPr>
          <a:xfrm>
            <a:off x="9382467" y="7346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5212" name="Google Shape;5212;p49"/>
          <p:cNvSpPr txBox="1"/>
          <p:nvPr/>
        </p:nvSpPr>
        <p:spPr>
          <a:xfrm>
            <a:off x="7985667" y="848267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X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3" name="Google Shape;5213;p49"/>
          <p:cNvSpPr txBox="1"/>
          <p:nvPr/>
        </p:nvSpPr>
        <p:spPr>
          <a:xfrm>
            <a:off x="10546067" y="848267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Y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14" name="Google Shape;5214;p49"/>
          <p:cNvCxnSpPr>
            <a:stCxn id="5212" idx="3"/>
            <a:endCxn id="5211" idx="2"/>
          </p:cNvCxnSpPr>
          <p:nvPr/>
        </p:nvCxnSpPr>
        <p:spPr>
          <a:xfrm>
            <a:off x="8748067" y="1083667"/>
            <a:ext cx="6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5" name="Google Shape;5215;p49"/>
          <p:cNvCxnSpPr>
            <a:stCxn id="5211" idx="6"/>
            <a:endCxn id="5213" idx="1"/>
          </p:cNvCxnSpPr>
          <p:nvPr/>
        </p:nvCxnSpPr>
        <p:spPr>
          <a:xfrm>
            <a:off x="10056067" y="1083667"/>
            <a:ext cx="490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6" name="Google Shape;5216;p49"/>
          <p:cNvSpPr/>
          <p:nvPr/>
        </p:nvSpPr>
        <p:spPr>
          <a:xfrm>
            <a:off x="2028367" y="5066533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5217" name="Google Shape;5217;p49"/>
          <p:cNvSpPr txBox="1"/>
          <p:nvPr/>
        </p:nvSpPr>
        <p:spPr>
          <a:xfrm>
            <a:off x="631567" y="5180133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X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8" name="Google Shape;5218;p49"/>
          <p:cNvSpPr txBox="1"/>
          <p:nvPr/>
        </p:nvSpPr>
        <p:spPr>
          <a:xfrm>
            <a:off x="3395167" y="4570533"/>
            <a:ext cx="9852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467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Ŷ</a:t>
            </a: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 = 0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19" name="Google Shape;5219;p49"/>
          <p:cNvCxnSpPr>
            <a:stCxn id="5217" idx="3"/>
            <a:endCxn id="5216" idx="2"/>
          </p:cNvCxnSpPr>
          <p:nvPr/>
        </p:nvCxnSpPr>
        <p:spPr>
          <a:xfrm>
            <a:off x="1393967" y="5415533"/>
            <a:ext cx="6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0" name="Google Shape;5220;p49"/>
          <p:cNvCxnSpPr>
            <a:stCxn id="5216" idx="6"/>
            <a:endCxn id="5218" idx="1"/>
          </p:cNvCxnSpPr>
          <p:nvPr/>
        </p:nvCxnSpPr>
        <p:spPr>
          <a:xfrm rot="10800000" flipH="1">
            <a:off x="2701967" y="4805933"/>
            <a:ext cx="693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1" name="Google Shape;5221;p49"/>
          <p:cNvCxnSpPr>
            <a:stCxn id="5216" idx="6"/>
          </p:cNvCxnSpPr>
          <p:nvPr/>
        </p:nvCxnSpPr>
        <p:spPr>
          <a:xfrm>
            <a:off x="2701967" y="5415533"/>
            <a:ext cx="693200" cy="54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22" name="Google Shape;5222;p49"/>
          <p:cNvSpPr txBox="1"/>
          <p:nvPr/>
        </p:nvSpPr>
        <p:spPr>
          <a:xfrm>
            <a:off x="3395167" y="5723733"/>
            <a:ext cx="9852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" sz="1467">
                <a:latin typeface="Consolas"/>
                <a:ea typeface="Consolas"/>
                <a:cs typeface="Consolas"/>
                <a:sym typeface="Consolas"/>
              </a:rPr>
              <a:t>Ŷ</a:t>
            </a: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 = 1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3" name="Google Shape;5223;p49"/>
          <p:cNvSpPr txBox="1"/>
          <p:nvPr/>
        </p:nvSpPr>
        <p:spPr>
          <a:xfrm>
            <a:off x="4938967" y="2959333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2400"/>
              <a:t>How does NN work (Insprired from Coursera)</a:t>
            </a:r>
            <a:endParaRPr sz="2400"/>
          </a:p>
        </p:txBody>
      </p:sp>
      <p:sp>
        <p:nvSpPr>
          <p:cNvPr id="5224" name="Google Shape;5224;p49"/>
          <p:cNvSpPr txBox="1"/>
          <p:nvPr/>
        </p:nvSpPr>
        <p:spPr>
          <a:xfrm>
            <a:off x="4536167" y="5585600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2400"/>
              <a:t>Logistic Regression</a:t>
            </a:r>
            <a:endParaRPr sz="2400"/>
          </a:p>
        </p:txBody>
      </p:sp>
      <p:sp>
        <p:nvSpPr>
          <p:cNvPr id="5225" name="Google Shape;5225;p49"/>
          <p:cNvSpPr txBox="1"/>
          <p:nvPr/>
        </p:nvSpPr>
        <p:spPr>
          <a:xfrm>
            <a:off x="8678433" y="1772167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2400"/>
              <a:t>Basic Neuron Model</a:t>
            </a: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514</Words>
  <Application>Microsoft Office PowerPoint</Application>
  <PresentationFormat>宽屏</PresentationFormat>
  <Paragraphs>98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宇涛 卫</cp:lastModifiedBy>
  <cp:revision>2</cp:revision>
  <dcterms:created xsi:type="dcterms:W3CDTF">2013-01-27T09:14:16Z</dcterms:created>
  <dcterms:modified xsi:type="dcterms:W3CDTF">2026-10-22T06:27:20Z</dcterms:modified>
  <cp:category/>
</cp:coreProperties>
</file>